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8895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0" roundtripDataSignature="AMtx7mg9S8ZtqGa/QtdyO/3DX85n1MI4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3A17A9E-DB92-4145-AF2B-E9A752306A9F}">
  <a:tblStyle styleId="{E3A17A9E-DB92-4145-AF2B-E9A752306A9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77B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457200" y="1005840"/>
            <a:ext cx="11274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НИУ ВШЭ · Факультет экономических наук · Образовательная программа «Экономика»</a:t>
            </a:r>
            <a:endParaRPr sz="1700"/>
          </a:p>
        </p:txBody>
      </p:sp>
      <p:sp>
        <p:nvSpPr>
          <p:cNvPr id="86" name="Google Shape;86;p1"/>
          <p:cNvSpPr txBox="1"/>
          <p:nvPr/>
        </p:nvSpPr>
        <p:spPr>
          <a:xfrm>
            <a:off x="457200" y="1600200"/>
            <a:ext cx="112746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44F7B"/>
                </a:solidFill>
                <a:latin typeface="Calibri"/>
                <a:ea typeface="Calibri"/>
                <a:cs typeface="Calibri"/>
                <a:sym typeface="Calibri"/>
              </a:rPr>
              <a:t>Исследование устойчивости моделей </a:t>
            </a:r>
            <a:endParaRPr b="1" i="0" sz="3600" u="none" cap="none" strike="noStrike">
              <a:solidFill>
                <a:srgbClr val="144F7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44F7B"/>
                </a:solidFill>
                <a:latin typeface="Calibri"/>
                <a:ea typeface="Calibri"/>
                <a:cs typeface="Calibri"/>
                <a:sym typeface="Calibri"/>
              </a:rPr>
              <a:t>волатильности</a:t>
            </a:r>
            <a:r>
              <a:rPr b="1" lang="en-US" sz="3600">
                <a:solidFill>
                  <a:srgbClr val="144F7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3600" u="none" cap="none" strike="noStrike">
                <a:solidFill>
                  <a:srgbClr val="144F7B"/>
                </a:solidFill>
                <a:latin typeface="Calibri"/>
                <a:ea typeface="Calibri"/>
                <a:cs typeface="Calibri"/>
                <a:sym typeface="Calibri"/>
              </a:rPr>
              <a:t>и ценообразования опционов</a:t>
            </a:r>
            <a:br>
              <a:rPr b="1" i="0" lang="en-US" sz="3600" u="none" cap="none" strike="noStrike">
                <a:solidFill>
                  <a:srgbClr val="144F7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600" u="none" cap="none" strike="noStrike">
                <a:solidFill>
                  <a:srgbClr val="144F7B"/>
                </a:solidFill>
                <a:latin typeface="Calibri"/>
                <a:ea typeface="Calibri"/>
                <a:cs typeface="Calibri"/>
                <a:sym typeface="Calibri"/>
              </a:rPr>
              <a:t>в различных рыночных режимах</a:t>
            </a:r>
            <a:endParaRPr sz="1900"/>
          </a:p>
        </p:txBody>
      </p:sp>
      <p:sp>
        <p:nvSpPr>
          <p:cNvPr id="87" name="Google Shape;87;p1"/>
          <p:cNvSpPr/>
          <p:nvPr/>
        </p:nvSpPr>
        <p:spPr>
          <a:xfrm>
            <a:off x="2242650" y="4560565"/>
            <a:ext cx="7617000" cy="36600"/>
          </a:xfrm>
          <a:prstGeom prst="rect">
            <a:avLst/>
          </a:prstGeom>
          <a:solidFill>
            <a:srgbClr val="459AC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413850" y="4743445"/>
            <a:ext cx="11274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Ковалёва Мария Сергеевна, 3 курс, группа БЭК2310</a:t>
            </a:r>
            <a:endParaRPr sz="1600"/>
          </a:p>
        </p:txBody>
      </p:sp>
      <p:sp>
        <p:nvSpPr>
          <p:cNvPr id="89" name="Google Shape;89;p1"/>
          <p:cNvSpPr txBox="1"/>
          <p:nvPr/>
        </p:nvSpPr>
        <p:spPr>
          <a:xfrm>
            <a:off x="413850" y="5154925"/>
            <a:ext cx="1127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Научный руководитель: Сизых Наталья Васильевна</a:t>
            </a:r>
            <a:endParaRPr sz="1600"/>
          </a:p>
        </p:txBody>
      </p:sp>
      <p:sp>
        <p:nvSpPr>
          <p:cNvPr id="90" name="Google Shape;90;p1"/>
          <p:cNvSpPr txBox="1"/>
          <p:nvPr/>
        </p:nvSpPr>
        <p:spPr>
          <a:xfrm>
            <a:off x="413850" y="5566405"/>
            <a:ext cx="11274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Москва, 2026</a:t>
            </a: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/>
        </p:nvSpPr>
        <p:spPr>
          <a:xfrm>
            <a:off x="365760" y="201168"/>
            <a:ext cx="11457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44F7B"/>
                </a:solidFill>
                <a:latin typeface="Calibri"/>
                <a:ea typeface="Calibri"/>
                <a:cs typeface="Calibri"/>
                <a:sym typeface="Calibri"/>
              </a:rPr>
              <a:t>Контекст и проблема</a:t>
            </a:r>
            <a:endParaRPr sz="3300"/>
          </a:p>
        </p:txBody>
      </p:sp>
      <p:sp>
        <p:nvSpPr>
          <p:cNvPr id="96" name="Google Shape;96;p2"/>
          <p:cNvSpPr/>
          <p:nvPr/>
        </p:nvSpPr>
        <p:spPr>
          <a:xfrm>
            <a:off x="365760" y="822960"/>
            <a:ext cx="11457432" cy="36576"/>
          </a:xfrm>
          <a:prstGeom prst="rect">
            <a:avLst/>
          </a:prstGeom>
          <a:solidFill>
            <a:srgbClr val="459AC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365760" y="2004985"/>
            <a:ext cx="3566100" cy="2469000"/>
          </a:xfrm>
          <a:prstGeom prst="roundRect">
            <a:avLst>
              <a:gd fmla="val 16667" name="adj"/>
            </a:avLst>
          </a:prstGeom>
          <a:solidFill>
            <a:srgbClr val="1E77B4"/>
          </a:solidFill>
          <a:ln cap="flat" cmpd="sng" w="9525">
            <a:solidFill>
              <a:srgbClr val="1E77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sng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Рынок</a:t>
            </a:r>
            <a:endParaRPr sz="2600" u="sng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5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Г</a:t>
            </a: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ипотеза эффективного рынка: цена агрегирует доступную информацию, ожидания, риски</a:t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4160483" y="2004985"/>
            <a:ext cx="3566100" cy="2469000"/>
          </a:xfrm>
          <a:prstGeom prst="roundRect">
            <a:avLst>
              <a:gd fmla="val 16667" name="adj"/>
            </a:avLst>
          </a:prstGeom>
          <a:solidFill>
            <a:srgbClr val="459ACC"/>
          </a:solidFill>
          <a:ln cap="flat" cmpd="sng" w="9525">
            <a:solidFill>
              <a:srgbClr val="459A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sng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Модели</a:t>
            </a:r>
            <a:endParaRPr b="1" sz="2600" u="sng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5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Классические модели описывают цену с помощью ограниченного набора параметров</a:t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7955204" y="2004985"/>
            <a:ext cx="3566100" cy="2469000"/>
          </a:xfrm>
          <a:prstGeom prst="roundRect">
            <a:avLst>
              <a:gd fmla="val 16667" name="adj"/>
            </a:avLst>
          </a:prstGeom>
          <a:solidFill>
            <a:srgbClr val="1E77B4"/>
          </a:solidFill>
          <a:ln cap="flat" cmpd="sng" w="9525">
            <a:solidFill>
              <a:srgbClr val="1E77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sng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Проблема</a:t>
            </a:r>
            <a:endParaRPr sz="2600" u="sng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5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В реальности предпосылки моделей не выполняются, ошибка систематически меняется</a:t>
            </a:r>
            <a:endParaRPr sz="1800"/>
          </a:p>
        </p:txBody>
      </p:sp>
      <p:sp>
        <p:nvSpPr>
          <p:cNvPr id="100" name="Google Shape;100;p2"/>
          <p:cNvSpPr txBox="1"/>
          <p:nvPr/>
        </p:nvSpPr>
        <p:spPr>
          <a:xfrm>
            <a:off x="549951" y="5265875"/>
            <a:ext cx="103317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Насколько точны модели на реальных данных российского фондового рынка?</a:t>
            </a:r>
            <a:endParaRPr b="1" sz="26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365760" y="201168"/>
            <a:ext cx="1145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144F7B"/>
                </a:solidFill>
                <a:latin typeface="Calibri"/>
                <a:ea typeface="Calibri"/>
                <a:cs typeface="Calibri"/>
                <a:sym typeface="Calibri"/>
              </a:rPr>
              <a:t>Гипотеза и цель исследования</a:t>
            </a:r>
            <a:endParaRPr sz="1800"/>
          </a:p>
        </p:txBody>
      </p:sp>
      <p:sp>
        <p:nvSpPr>
          <p:cNvPr id="106" name="Google Shape;106;p3"/>
          <p:cNvSpPr/>
          <p:nvPr/>
        </p:nvSpPr>
        <p:spPr>
          <a:xfrm>
            <a:off x="365760" y="822960"/>
            <a:ext cx="11457432" cy="36576"/>
          </a:xfrm>
          <a:prstGeom prst="rect">
            <a:avLst/>
          </a:prstGeom>
          <a:solidFill>
            <a:srgbClr val="459AC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827050" y="1154700"/>
            <a:ext cx="10347000" cy="26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Гипотеза:</a:t>
            </a:r>
            <a:endParaRPr b="1" sz="26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Качество аппроксимации рыночных цен опционов модельными оценками зависит от рыночного режима и ухудшается в стрессовых состояниях рынка, что требует анализа и систематизации характера и масштаба этих отклонений для дальнейшего учёта выявленных зависимостей при построении и при менении моделей оценки стоимости опционов в реальных задачах.</a:t>
            </a:r>
            <a:endParaRPr sz="20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827050" y="3724175"/>
            <a:ext cx="109959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Цель:</a:t>
            </a:r>
            <a:r>
              <a:rPr b="1" lang="en-US" sz="2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22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Исследовать устойчивость моделей волатильности и ценообразования опционов в</a:t>
            </a:r>
            <a:endParaRPr sz="20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различных рыночных режимах на основе сравнения модельных и рыночных цен.</a:t>
            </a:r>
            <a:endParaRPr sz="20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214160" y="5714610"/>
            <a:ext cx="11457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Исследовать, от чего зависят ошибки</a:t>
            </a:r>
            <a:r>
              <a:rPr b="1" i="0" lang="en-US" sz="2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: как и где </a:t>
            </a:r>
            <a:r>
              <a:rPr b="1" lang="en-US" sz="2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они</a:t>
            </a:r>
            <a:r>
              <a:rPr b="1" i="0" lang="en-US" sz="2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меня</a:t>
            </a:r>
            <a:r>
              <a:rPr b="1" lang="en-US" sz="2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ю</a:t>
            </a:r>
            <a:r>
              <a:rPr b="1" i="0" lang="en-US" sz="2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тся</a:t>
            </a:r>
            <a:endParaRPr b="1" sz="26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/>
        </p:nvSpPr>
        <p:spPr>
          <a:xfrm>
            <a:off x="365760" y="201168"/>
            <a:ext cx="11457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44F7B"/>
                </a:solidFill>
                <a:latin typeface="Calibri"/>
                <a:ea typeface="Calibri"/>
                <a:cs typeface="Calibri"/>
                <a:sym typeface="Calibri"/>
              </a:rPr>
              <a:t>Методология исследования</a:t>
            </a:r>
            <a:endParaRPr sz="3300"/>
          </a:p>
        </p:txBody>
      </p:sp>
      <p:sp>
        <p:nvSpPr>
          <p:cNvPr id="115" name="Google Shape;115;p4"/>
          <p:cNvSpPr/>
          <p:nvPr/>
        </p:nvSpPr>
        <p:spPr>
          <a:xfrm>
            <a:off x="365760" y="822960"/>
            <a:ext cx="11457432" cy="36576"/>
          </a:xfrm>
          <a:prstGeom prst="rect">
            <a:avLst/>
          </a:prstGeom>
          <a:solidFill>
            <a:srgbClr val="459AC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365750" y="1005852"/>
            <a:ext cx="5029200" cy="857400"/>
          </a:xfrm>
          <a:prstGeom prst="roundRect">
            <a:avLst>
              <a:gd fmla="val 16667" name="adj"/>
            </a:avLst>
          </a:prstGeom>
          <a:solidFill>
            <a:srgbClr val="1E77B4"/>
          </a:solidFill>
          <a:ln cap="flat" cmpd="sng" w="9525">
            <a:solidFill>
              <a:srgbClr val="1E77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Реальные данные с биржи MOEX</a:t>
            </a:r>
            <a:endParaRPr b="1"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опционы + БА + параметры контрактов</a:t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 txBox="1"/>
          <p:nvPr/>
        </p:nvSpPr>
        <p:spPr>
          <a:xfrm>
            <a:off x="365760" y="1909209"/>
            <a:ext cx="502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A6A6A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365750" y="2211074"/>
            <a:ext cx="5029200" cy="857400"/>
          </a:xfrm>
          <a:prstGeom prst="roundRect">
            <a:avLst>
              <a:gd fmla="val 16667" name="adj"/>
            </a:avLst>
          </a:prstGeom>
          <a:solidFill>
            <a:srgbClr val="459ACC"/>
          </a:solidFill>
          <a:ln cap="flat" cmpd="sng" w="9525">
            <a:solidFill>
              <a:srgbClr val="459A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Оценка волатильности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HV_21d  ·  HV_63d  ·  GARCH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365760" y="3044798"/>
            <a:ext cx="502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A6A6A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365750" y="3418689"/>
            <a:ext cx="5029200" cy="784800"/>
          </a:xfrm>
          <a:prstGeom prst="roundRect">
            <a:avLst>
              <a:gd fmla="val 16667" name="adj"/>
            </a:avLst>
          </a:prstGeom>
          <a:solidFill>
            <a:srgbClr val="459ACC"/>
          </a:solidFill>
          <a:ln cap="flat" cmpd="sng" w="9525">
            <a:solidFill>
              <a:srgbClr val="459A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Модельное ценообразование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CRR American  ·  Black-76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365760" y="4180411"/>
            <a:ext cx="502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A6A6A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365750" y="4553702"/>
            <a:ext cx="5029200" cy="857400"/>
          </a:xfrm>
          <a:prstGeom prst="roundRect">
            <a:avLst>
              <a:gd fmla="val 16667" name="adj"/>
            </a:avLst>
          </a:prstGeom>
          <a:solidFill>
            <a:srgbClr val="1D6A4A"/>
          </a:solidFill>
          <a:ln cap="flat" cmpd="sng" w="9525">
            <a:solidFill>
              <a:srgbClr val="1D6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Ошибка модели</a:t>
            </a:r>
            <a:endParaRPr b="1"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e_i = Р_</a:t>
            </a:r>
            <a:r>
              <a:rPr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− </a:t>
            </a: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Р_</a:t>
            </a:r>
            <a:r>
              <a:rPr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market</a:t>
            </a:r>
            <a:endParaRPr sz="2000"/>
          </a:p>
        </p:txBody>
      </p:sp>
      <p:sp>
        <p:nvSpPr>
          <p:cNvPr id="123" name="Google Shape;123;p4"/>
          <p:cNvSpPr txBox="1"/>
          <p:nvPr/>
        </p:nvSpPr>
        <p:spPr>
          <a:xfrm>
            <a:off x="365760" y="5432062"/>
            <a:ext cx="502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A6A6A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419925" y="5822301"/>
            <a:ext cx="5029200" cy="857400"/>
          </a:xfrm>
          <a:prstGeom prst="roundRect">
            <a:avLst>
              <a:gd fmla="val 16667" name="adj"/>
            </a:avLst>
          </a:prstGeom>
          <a:solidFill>
            <a:srgbClr val="1D6A4A"/>
          </a:solidFill>
          <a:ln cap="flat" cmpd="sng" w="9525">
            <a:solidFill>
              <a:srgbClr val="1D6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Анализ </a:t>
            </a: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устойчивости ошибки</a:t>
            </a: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i="0" sz="2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режим волатильности</a:t>
            </a:r>
            <a:r>
              <a:rPr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· DTE · </a:t>
            </a: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денежность</a:t>
            </a:r>
            <a:endParaRPr sz="2000"/>
          </a:p>
        </p:txBody>
      </p:sp>
      <p:sp>
        <p:nvSpPr>
          <p:cNvPr id="125" name="Google Shape;125;p4"/>
          <p:cNvSpPr txBox="1"/>
          <p:nvPr/>
        </p:nvSpPr>
        <p:spPr>
          <a:xfrm>
            <a:off x="5688225" y="691075"/>
            <a:ext cx="6217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Метрики качества: </a:t>
            </a:r>
            <a:endParaRPr b="1" i="0" sz="26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5726130" y="1363235"/>
            <a:ext cx="6217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MAE  ·  RMSE  ·  Mean error</a:t>
            </a:r>
            <a:endParaRPr sz="2200"/>
          </a:p>
        </p:txBody>
      </p:sp>
      <p:sp>
        <p:nvSpPr>
          <p:cNvPr id="127" name="Google Shape;127;p4"/>
          <p:cNvSpPr txBox="1"/>
          <p:nvPr/>
        </p:nvSpPr>
        <p:spPr>
          <a:xfrm>
            <a:off x="5753230" y="4578775"/>
            <a:ext cx="621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 txBox="1"/>
          <p:nvPr/>
        </p:nvSpPr>
        <p:spPr>
          <a:xfrm>
            <a:off x="5699030" y="4336472"/>
            <a:ext cx="6217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Ошибка нормируется на временну́ю стоимость</a:t>
            </a:r>
            <a:r>
              <a:rPr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1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ту часть цены, которую модель должна объяснять</a:t>
            </a:r>
            <a:endParaRPr sz="1800"/>
          </a:p>
        </p:txBody>
      </p:sp>
      <p:pic>
        <p:nvPicPr>
          <p:cNvPr id="129" name="Google Shape;129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5172" y="3257650"/>
            <a:ext cx="2268852" cy="69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52769" y="3952438"/>
            <a:ext cx="2310306" cy="384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4"/>
          <p:cNvSpPr txBox="1"/>
          <p:nvPr/>
        </p:nvSpPr>
        <p:spPr>
          <a:xfrm>
            <a:off x="5818225" y="2734550"/>
            <a:ext cx="5656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Авторская метрика:</a:t>
            </a:r>
            <a:endParaRPr b="1" sz="26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5853800" y="1794025"/>
            <a:ext cx="5785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проверяют масштаб ошибки, крупные промахи, смещение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5826675" y="5607975"/>
            <a:ext cx="59409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Проверка устойчивости результатов:</a:t>
            </a:r>
            <a:endParaRPr b="1" sz="26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 txBox="1"/>
          <p:nvPr/>
        </p:nvSpPr>
        <p:spPr>
          <a:xfrm>
            <a:off x="5951825" y="6038775"/>
            <a:ext cx="5417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стат тесты · OLS · подвыборки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 txBox="1"/>
          <p:nvPr/>
        </p:nvSpPr>
        <p:spPr>
          <a:xfrm>
            <a:off x="365760" y="201168"/>
            <a:ext cx="11457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44F7B"/>
                </a:solidFill>
                <a:latin typeface="Calibri"/>
                <a:ea typeface="Calibri"/>
                <a:cs typeface="Calibri"/>
                <a:sym typeface="Calibri"/>
              </a:rPr>
              <a:t>Модели ценообразования и входные параметры</a:t>
            </a:r>
            <a:endParaRPr sz="1700"/>
          </a:p>
        </p:txBody>
      </p:sp>
      <p:sp>
        <p:nvSpPr>
          <p:cNvPr id="140" name="Google Shape;140;p5"/>
          <p:cNvSpPr/>
          <p:nvPr/>
        </p:nvSpPr>
        <p:spPr>
          <a:xfrm>
            <a:off x="365760" y="822960"/>
            <a:ext cx="11457300" cy="36600"/>
          </a:xfrm>
          <a:prstGeom prst="rect">
            <a:avLst/>
          </a:prstGeom>
          <a:solidFill>
            <a:srgbClr val="459AC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397685" y="1255508"/>
            <a:ext cx="5486400" cy="420600"/>
          </a:xfrm>
          <a:prstGeom prst="roundRect">
            <a:avLst>
              <a:gd fmla="val 16667" name="adj"/>
            </a:avLst>
          </a:prstGeom>
          <a:solidFill>
            <a:srgbClr val="1E77B4"/>
          </a:solidFill>
          <a:ln cap="flat" cmpd="sng" w="9525">
            <a:solidFill>
              <a:srgbClr val="1E77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Модель Кокса-Росса-Рубинштейна</a:t>
            </a:r>
            <a:endParaRPr sz="2200"/>
          </a:p>
        </p:txBody>
      </p:sp>
      <p:sp>
        <p:nvSpPr>
          <p:cNvPr id="142" name="Google Shape;142;p5"/>
          <p:cNvSpPr txBox="1"/>
          <p:nvPr/>
        </p:nvSpPr>
        <p:spPr>
          <a:xfrm>
            <a:off x="397685" y="1758428"/>
            <a:ext cx="54864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000"/>
              <a:buFont typeface="Calibri"/>
              <a:buChar char="❏"/>
            </a:pPr>
            <a:r>
              <a:rPr lang="en-US" sz="2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Б</a:t>
            </a:r>
            <a:r>
              <a:rPr lang="en-US" sz="2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иномиальное дерево</a:t>
            </a:r>
            <a:endParaRPr sz="20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000"/>
              <a:buFont typeface="Calibri"/>
              <a:buChar char="❏"/>
            </a:pPr>
            <a:r>
              <a:rPr lang="en-US" sz="2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Подходит для американских опционов</a:t>
            </a:r>
            <a:endParaRPr sz="20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000"/>
              <a:buFont typeface="Calibri"/>
              <a:buChar char="❏"/>
            </a:pPr>
            <a:r>
              <a:rPr lang="en-US" sz="2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Учитывает досрочное исполнение</a:t>
            </a:r>
            <a:endParaRPr sz="20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000"/>
              <a:buFont typeface="Calibri"/>
              <a:buChar char="❏"/>
            </a:pPr>
            <a:r>
              <a:rPr lang="en-US" sz="2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Входные параметры: F,K,T,r,σ,тип опциона</a:t>
            </a:r>
            <a:endParaRPr sz="20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6432725" y="1255508"/>
            <a:ext cx="5486400" cy="420600"/>
          </a:xfrm>
          <a:prstGeom prst="roundRect">
            <a:avLst>
              <a:gd fmla="val 16667" name="adj"/>
            </a:avLst>
          </a:prstGeom>
          <a:solidFill>
            <a:srgbClr val="459ACC"/>
          </a:solidFill>
          <a:ln cap="flat" cmpd="sng" w="9525">
            <a:solidFill>
              <a:srgbClr val="459A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Модель 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Black-76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 txBox="1"/>
          <p:nvPr/>
        </p:nvSpPr>
        <p:spPr>
          <a:xfrm>
            <a:off x="6432725" y="1758425"/>
            <a:ext cx="56514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000"/>
              <a:buFont typeface="Calibri"/>
              <a:buChar char="❏"/>
            </a:pPr>
            <a:r>
              <a:rPr lang="en-US" sz="2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Аналитическая формула</a:t>
            </a:r>
            <a:endParaRPr sz="20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000"/>
              <a:buFont typeface="Calibri"/>
              <a:buChar char="❏"/>
            </a:pPr>
            <a:r>
              <a:rPr lang="en-US" sz="2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Для опционов европейского стиля исполнения</a:t>
            </a:r>
            <a:endParaRPr sz="20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000"/>
              <a:buFont typeface="Calibri"/>
              <a:buChar char="❏"/>
            </a:pPr>
            <a:r>
              <a:rPr lang="en-US" sz="2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Для опционов на фьючерсы</a:t>
            </a:r>
            <a:endParaRPr sz="20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000"/>
              <a:buFont typeface="Calibri"/>
              <a:buChar char="❏"/>
            </a:pPr>
            <a:r>
              <a:rPr lang="en-US" sz="2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Входные параметры: F,K,T,r,σ</a:t>
            </a:r>
            <a:endParaRPr sz="20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443400" y="3802895"/>
            <a:ext cx="114300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Волатильность- ключевой параметр моделей.</a:t>
            </a:r>
            <a:endParaRPr b="1" sz="26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Разная σ → разные модельные цены → разные ошибки</a:t>
            </a:r>
            <a:endParaRPr sz="26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 txBox="1"/>
          <p:nvPr/>
        </p:nvSpPr>
        <p:spPr>
          <a:xfrm>
            <a:off x="429760" y="4912275"/>
            <a:ext cx="1145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493776" y="5570068"/>
            <a:ext cx="2514600" cy="749700"/>
          </a:xfrm>
          <a:prstGeom prst="roundRect">
            <a:avLst>
              <a:gd fmla="val 16667" name="adj"/>
            </a:avLst>
          </a:prstGeom>
          <a:solidFill>
            <a:srgbClr val="459ACC"/>
          </a:solidFill>
          <a:ln cap="flat" cmpd="sng" w="9525">
            <a:solidFill>
              <a:srgbClr val="459A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HV_21d · HV_63d · GARCH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2935301" y="5698618"/>
            <a:ext cx="34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6A6A6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3314698" y="5570068"/>
            <a:ext cx="2514600" cy="749700"/>
          </a:xfrm>
          <a:prstGeom prst="roundRect">
            <a:avLst>
              <a:gd fmla="val 16667" name="adj"/>
            </a:avLst>
          </a:prstGeom>
          <a:solidFill>
            <a:srgbClr val="1E77B4"/>
          </a:solidFill>
          <a:ln cap="flat" cmpd="sng" w="9525">
            <a:solidFill>
              <a:srgbClr val="1E77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σ</a:t>
            </a:r>
            <a:endParaRPr sz="2200"/>
          </a:p>
        </p:txBody>
      </p:sp>
      <p:sp>
        <p:nvSpPr>
          <p:cNvPr id="150" name="Google Shape;150;p5"/>
          <p:cNvSpPr txBox="1"/>
          <p:nvPr/>
        </p:nvSpPr>
        <p:spPr>
          <a:xfrm>
            <a:off x="5751773" y="5698618"/>
            <a:ext cx="34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6A6A6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6217845" y="5570068"/>
            <a:ext cx="2514600" cy="749700"/>
          </a:xfrm>
          <a:prstGeom prst="roundRect">
            <a:avLst>
              <a:gd fmla="val 16667" name="adj"/>
            </a:avLst>
          </a:prstGeom>
          <a:solidFill>
            <a:srgbClr val="459ACC"/>
          </a:solidFill>
          <a:ln cap="flat" cmpd="sng" w="9525">
            <a:solidFill>
              <a:srgbClr val="459A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CRR  /  Black-76</a:t>
            </a:r>
            <a:endParaRPr sz="2000"/>
          </a:p>
        </p:txBody>
      </p:sp>
      <p:sp>
        <p:nvSpPr>
          <p:cNvPr id="152" name="Google Shape;152;p5"/>
          <p:cNvSpPr txBox="1"/>
          <p:nvPr/>
        </p:nvSpPr>
        <p:spPr>
          <a:xfrm>
            <a:off x="8633270" y="5698618"/>
            <a:ext cx="34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6A6A6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9098142" y="5570068"/>
            <a:ext cx="2514600" cy="749700"/>
          </a:xfrm>
          <a:prstGeom prst="roundRect">
            <a:avLst>
              <a:gd fmla="val 16667" name="adj"/>
            </a:avLst>
          </a:prstGeom>
          <a:solidFill>
            <a:srgbClr val="1D6A4A"/>
          </a:solidFill>
          <a:ln cap="flat" cmpd="sng" w="9525">
            <a:solidFill>
              <a:srgbClr val="1D6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P_model</a:t>
            </a:r>
            <a:endParaRPr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"/>
          <p:cNvSpPr txBox="1"/>
          <p:nvPr/>
        </p:nvSpPr>
        <p:spPr>
          <a:xfrm>
            <a:off x="365760" y="201168"/>
            <a:ext cx="11457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44F7B"/>
                </a:solidFill>
                <a:latin typeface="Calibri"/>
                <a:ea typeface="Calibri"/>
                <a:cs typeface="Calibri"/>
                <a:sym typeface="Calibri"/>
              </a:rPr>
              <a:t>Общее сравнение моделей</a:t>
            </a:r>
            <a:endParaRPr sz="1700"/>
          </a:p>
        </p:txBody>
      </p:sp>
      <p:sp>
        <p:nvSpPr>
          <p:cNvPr id="159" name="Google Shape;159;p6"/>
          <p:cNvSpPr/>
          <p:nvPr/>
        </p:nvSpPr>
        <p:spPr>
          <a:xfrm>
            <a:off x="365760" y="822960"/>
            <a:ext cx="11457432" cy="36576"/>
          </a:xfrm>
          <a:prstGeom prst="rect">
            <a:avLst/>
          </a:prstGeom>
          <a:solidFill>
            <a:srgbClr val="459AC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0" name="Google Shape;160;p6"/>
          <p:cNvGraphicFramePr/>
          <p:nvPr/>
        </p:nvGraphicFramePr>
        <p:xfrm>
          <a:off x="365760" y="13021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{E3A17A9E-DB92-4145-AF2B-E9A752306A9F}</a:tableStyleId>
              </a:tblPr>
              <a:tblGrid>
                <a:gridCol w="2309875"/>
                <a:gridCol w="1344800"/>
                <a:gridCol w="1237875"/>
                <a:gridCol w="1369300"/>
              </a:tblGrid>
              <a:tr h="43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Модель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77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77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RMSE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77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 error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77B4"/>
                    </a:solidFill>
                  </a:tcPr>
                </a:tc>
              </a:tr>
              <a:tr h="43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CRR + GARCH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107.0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145.8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−78.1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BF5FB"/>
                    </a:solidFill>
                  </a:tcPr>
                </a:tc>
              </a:tr>
              <a:tr h="43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CRR + HV_63d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107.1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140.6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−89.7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3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CRR + HV_21d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119.3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156.4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−95.3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pic>
        <p:nvPicPr>
          <p:cNvPr descr="fig_01_03_model_comparison.png" id="161" name="Google Shape;161;p6"/>
          <p:cNvPicPr preferRelativeResize="0"/>
          <p:nvPr/>
        </p:nvPicPr>
        <p:blipFill rotWithShape="1">
          <a:blip r:embed="rId3">
            <a:alphaModFix/>
          </a:blip>
          <a:srcRect b="0" l="34310" r="0" t="0"/>
          <a:stretch/>
        </p:blipFill>
        <p:spPr>
          <a:xfrm>
            <a:off x="235725" y="3615125"/>
            <a:ext cx="6886223" cy="275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6"/>
          <p:cNvSpPr txBox="1"/>
          <p:nvPr/>
        </p:nvSpPr>
        <p:spPr>
          <a:xfrm>
            <a:off x="7121950" y="1242375"/>
            <a:ext cx="4832400" cy="52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Все модели систематически недооценивают рынок.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Ошибка выше в средне- и высоковолатильностных режимах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Эффект режима частично связан с составом выборки: DTE и moneyness тоже важны.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На коротких сроках ошибки почти нулевые.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Длинные опционы сложнее описать одной оценкой волатильности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"/>
          <p:cNvSpPr txBox="1"/>
          <p:nvPr/>
        </p:nvSpPr>
        <p:spPr>
          <a:xfrm>
            <a:off x="365760" y="201168"/>
            <a:ext cx="11457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44F7B"/>
                </a:solidFill>
                <a:latin typeface="Calibri"/>
                <a:ea typeface="Calibri"/>
                <a:cs typeface="Calibri"/>
                <a:sym typeface="Calibri"/>
              </a:rPr>
              <a:t>Ошибки по рыночным режимам</a:t>
            </a:r>
            <a:endParaRPr sz="1700"/>
          </a:p>
        </p:txBody>
      </p:sp>
      <p:sp>
        <p:nvSpPr>
          <p:cNvPr id="168" name="Google Shape;168;p9"/>
          <p:cNvSpPr/>
          <p:nvPr/>
        </p:nvSpPr>
        <p:spPr>
          <a:xfrm>
            <a:off x="365760" y="822960"/>
            <a:ext cx="11457432" cy="36576"/>
          </a:xfrm>
          <a:prstGeom prst="rect">
            <a:avLst/>
          </a:prstGeom>
          <a:solidFill>
            <a:srgbClr val="459AC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9" name="Google Shape;169;p9"/>
          <p:cNvGraphicFramePr/>
          <p:nvPr/>
        </p:nvGraphicFramePr>
        <p:xfrm>
          <a:off x="419935" y="11830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{E3A17A9E-DB92-4145-AF2B-E9A752306A9F}</a:tableStyleId>
              </a:tblPr>
              <a:tblGrid>
                <a:gridCol w="949300"/>
                <a:gridCol w="1411925"/>
                <a:gridCol w="1553350"/>
                <a:gridCol w="1458850"/>
              </a:tblGrid>
              <a:tr h="43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Режим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77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CRR + GARCH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77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CRR + HV_63d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77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CRR + HV_21d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77B4"/>
                    </a:solidFill>
                  </a:tcPr>
                </a:tc>
              </a:tr>
              <a:tr h="43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 vol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77.5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82.1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104.1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BF5FB"/>
                    </a:solidFill>
                  </a:tcPr>
                </a:tc>
              </a:tr>
              <a:tr h="43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Mid vol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118.2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128.3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141.8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3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 vol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141.0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122.8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117.8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pic>
        <p:nvPicPr>
          <p:cNvPr descr="fig_04_rolling_mae.png" id="170" name="Google Shape;17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6100" y="3138425"/>
            <a:ext cx="8131500" cy="3252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1" name="Google Shape;171;p9"/>
          <p:cNvGraphicFramePr/>
          <p:nvPr/>
        </p:nvGraphicFramePr>
        <p:xfrm>
          <a:off x="6027035" y="11830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{E3A17A9E-DB92-4145-AF2B-E9A752306A9F}</a:tableStyleId>
              </a:tblPr>
              <a:tblGrid>
                <a:gridCol w="1492925"/>
                <a:gridCol w="1427750"/>
                <a:gridCol w="1575875"/>
                <a:gridCol w="1537850"/>
              </a:tblGrid>
              <a:tr h="43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FFFFFF"/>
                          </a:solidFill>
                        </a:rPr>
                        <a:t>Модель</a:t>
                      </a:r>
                      <a:endParaRPr/>
                    </a:p>
                  </a:txBody>
                  <a:tcPr marT="45725" marB="45725" marR="91450" marL="91450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77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CRR + GARCH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77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CRR + HV_63d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77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CRR + HV_21d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77B4"/>
                    </a:solidFill>
                  </a:tcPr>
                </a:tc>
              </a:tr>
              <a:tr h="43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CRR + </a:t>
                      </a:r>
                      <a:r>
                        <a:rPr b="1" lang="en-US" sz="1700">
                          <a:solidFill>
                            <a:srgbClr val="FFFFFF"/>
                          </a:solidFill>
                        </a:rPr>
                        <a:t>GARCH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77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A1A2E"/>
                          </a:solidFill>
                        </a:rPr>
                        <a:t>-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A1A2E"/>
                          </a:solidFill>
                        </a:rPr>
                        <a:t>34.0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A1A2E"/>
                          </a:solidFill>
                        </a:rPr>
                        <a:t>29.0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BF5FB"/>
                    </a:solidFill>
                  </a:tcPr>
                </a:tc>
              </a:tr>
              <a:tr h="43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CRR + HV_63d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77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700">
                          <a:solidFill>
                            <a:srgbClr val="1A1A2E"/>
                          </a:solidFill>
                        </a:rPr>
                        <a:t>34.0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A1A2E"/>
                          </a:solidFill>
                        </a:rPr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A1A2E"/>
                          </a:solidFill>
                        </a:rPr>
                        <a:t>27.9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3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CRR + HV_</a:t>
                      </a:r>
                      <a:r>
                        <a:rPr b="1" lang="en-US" sz="1700">
                          <a:solidFill>
                            <a:srgbClr val="FFFFFF"/>
                          </a:solidFill>
                        </a:rPr>
                        <a:t>21</a:t>
                      </a: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77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700">
                          <a:solidFill>
                            <a:srgbClr val="1A1A2E"/>
                          </a:solidFill>
                        </a:rPr>
                        <a:t>29.0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700">
                          <a:solidFill>
                            <a:srgbClr val="1A1A2E"/>
                          </a:solidFill>
                        </a:rPr>
                        <a:t>27.9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1A1A2E"/>
                          </a:solidFill>
                        </a:rPr>
                        <a:t>-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"/>
          <p:cNvSpPr txBox="1"/>
          <p:nvPr/>
        </p:nvSpPr>
        <p:spPr>
          <a:xfrm>
            <a:off x="365750" y="222650"/>
            <a:ext cx="11920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44F7B"/>
                </a:solidFill>
                <a:latin typeface="Calibri"/>
                <a:ea typeface="Calibri"/>
                <a:cs typeface="Calibri"/>
                <a:sym typeface="Calibri"/>
              </a:rPr>
              <a:t>Time Value </a:t>
            </a:r>
            <a:r>
              <a:rPr b="1" lang="en-US" sz="3300">
                <a:solidFill>
                  <a:srgbClr val="144F7B"/>
                </a:solidFill>
                <a:latin typeface="Calibri"/>
                <a:ea typeface="Calibri"/>
                <a:cs typeface="Calibri"/>
                <a:sym typeface="Calibri"/>
              </a:rPr>
              <a:t>Normalized</a:t>
            </a:r>
            <a:r>
              <a:rPr b="1" lang="en-US" sz="3300">
                <a:solidFill>
                  <a:srgbClr val="144F7B"/>
                </a:solidFill>
                <a:latin typeface="Calibri"/>
                <a:ea typeface="Calibri"/>
                <a:cs typeface="Calibri"/>
                <a:sym typeface="Calibri"/>
              </a:rPr>
              <a:t> Absolute Error</a:t>
            </a:r>
            <a:endParaRPr sz="1700"/>
          </a:p>
        </p:txBody>
      </p:sp>
      <p:sp>
        <p:nvSpPr>
          <p:cNvPr id="177" name="Google Shape;177;p7"/>
          <p:cNvSpPr/>
          <p:nvPr/>
        </p:nvSpPr>
        <p:spPr>
          <a:xfrm>
            <a:off x="365760" y="822960"/>
            <a:ext cx="11457432" cy="36576"/>
          </a:xfrm>
          <a:prstGeom prst="rect">
            <a:avLst/>
          </a:prstGeom>
          <a:solidFill>
            <a:srgbClr val="459AC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 txBox="1"/>
          <p:nvPr/>
        </p:nvSpPr>
        <p:spPr>
          <a:xfrm>
            <a:off x="1308385" y="1480562"/>
            <a:ext cx="5486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 txBox="1"/>
          <p:nvPr/>
        </p:nvSpPr>
        <p:spPr>
          <a:xfrm>
            <a:off x="1308385" y="1818890"/>
            <a:ext cx="5486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80" name="Google Shape;180;p7"/>
          <p:cNvGraphicFramePr/>
          <p:nvPr/>
        </p:nvGraphicFramePr>
        <p:xfrm>
          <a:off x="1416730" y="118470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{E3A17A9E-DB92-4145-AF2B-E9A752306A9F}</a:tableStyleId>
              </a:tblPr>
              <a:tblGrid>
                <a:gridCol w="1937300"/>
                <a:gridCol w="1402225"/>
                <a:gridCol w="1587000"/>
              </a:tblGrid>
              <a:tr h="39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Модель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77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TVNAE mean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77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TVNAE median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77B4"/>
                    </a:solidFill>
                  </a:tcPr>
                </a:tc>
              </a:tr>
              <a:tr h="39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CRR + GARCH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BF5FB"/>
                    </a:solidFill>
                  </a:tcPr>
                </a:tc>
              </a:tr>
              <a:tr h="39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CRR + HV_63d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0.68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9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CRR + HV_21d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pic>
        <p:nvPicPr>
          <p:cNvPr descr="fig_pres_02_tvnae_heatmap.png" id="181" name="Google Shape;18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500" y="3008425"/>
            <a:ext cx="7440076" cy="3624276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7"/>
          <p:cNvSpPr txBox="1"/>
          <p:nvPr/>
        </p:nvSpPr>
        <p:spPr>
          <a:xfrm>
            <a:off x="7847875" y="1231550"/>
            <a:ext cx="3781200" cy="53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❏"/>
            </a:pPr>
            <a:r>
              <a:rPr lang="en-US" sz="1800">
                <a:solidFill>
                  <a:schemeClr val="dk1"/>
                </a:solidFill>
              </a:rPr>
              <a:t>По TVNAE лучшая модель- CRR + GARCH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❏"/>
            </a:pPr>
            <a:r>
              <a:rPr lang="en-US" sz="1800">
                <a:solidFill>
                  <a:schemeClr val="dk1"/>
                </a:solidFill>
              </a:rPr>
              <a:t>GARCH лучше описывает именно временную стоимость опциона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❏"/>
            </a:pPr>
            <a:r>
              <a:rPr lang="en-US" sz="1800">
                <a:solidFill>
                  <a:schemeClr val="dk1"/>
                </a:solidFill>
              </a:rPr>
              <a:t>Преимущество GARCH особенно заметно на коротких DTE: 0–7 дней.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❏"/>
            </a:pPr>
            <a:r>
              <a:rPr lang="en-US" sz="1800">
                <a:solidFill>
                  <a:schemeClr val="dk1"/>
                </a:solidFill>
              </a:rPr>
              <a:t>У HV_21d худший результат: краткосрочная σ слишком шумная.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❏"/>
            </a:pPr>
            <a:r>
              <a:rPr lang="en-US" sz="1800">
                <a:solidFill>
                  <a:schemeClr val="dk1"/>
                </a:solidFill>
              </a:rPr>
              <a:t>По мере роста DTE различия между моделями сглаживаются.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"/>
          <p:cNvSpPr txBox="1"/>
          <p:nvPr/>
        </p:nvSpPr>
        <p:spPr>
          <a:xfrm>
            <a:off x="365760" y="201168"/>
            <a:ext cx="11457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44F7B"/>
                </a:solidFill>
                <a:latin typeface="Calibri"/>
                <a:ea typeface="Calibri"/>
                <a:cs typeface="Calibri"/>
                <a:sym typeface="Calibri"/>
              </a:rPr>
              <a:t>CRR</a:t>
            </a:r>
            <a:r>
              <a:rPr b="1" i="0" lang="en-US" sz="3300" u="none" cap="none" strike="noStrike">
                <a:solidFill>
                  <a:srgbClr val="144F7B"/>
                </a:solidFill>
                <a:latin typeface="Calibri"/>
                <a:ea typeface="Calibri"/>
                <a:cs typeface="Calibri"/>
                <a:sym typeface="Calibri"/>
              </a:rPr>
              <a:t> vs Black-76</a:t>
            </a:r>
            <a:endParaRPr sz="1700"/>
          </a:p>
        </p:txBody>
      </p:sp>
      <p:sp>
        <p:nvSpPr>
          <p:cNvPr id="188" name="Google Shape;188;p8"/>
          <p:cNvSpPr/>
          <p:nvPr/>
        </p:nvSpPr>
        <p:spPr>
          <a:xfrm>
            <a:off x="365760" y="822960"/>
            <a:ext cx="11457432" cy="36576"/>
          </a:xfrm>
          <a:prstGeom prst="rect">
            <a:avLst/>
          </a:prstGeom>
          <a:solidFill>
            <a:srgbClr val="459AC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9" name="Google Shape;189;p8"/>
          <p:cNvGraphicFramePr/>
          <p:nvPr/>
        </p:nvGraphicFramePr>
        <p:xfrm>
          <a:off x="317635" y="12799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{E3A17A9E-DB92-4145-AF2B-E9A752306A9F}</a:tableStyleId>
              </a:tblPr>
              <a:tblGrid>
                <a:gridCol w="2792475"/>
                <a:gridCol w="1178175"/>
                <a:gridCol w="1091425"/>
                <a:gridCol w="15804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cap="none" strike="noStrike">
                          <a:solidFill>
                            <a:srgbClr val="FFFFFF"/>
                          </a:solidFill>
                        </a:rPr>
                        <a:t>Модель</a:t>
                      </a:r>
                      <a:endParaRPr sz="2200"/>
                    </a:p>
                  </a:txBody>
                  <a:tcPr marT="45725" marB="45725" marR="91450" marL="91450">
                    <a:solidFill>
                      <a:srgbClr val="1E77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cap="none" strike="noStrike">
                          <a:solidFill>
                            <a:srgbClr val="FFFFFF"/>
                          </a:solidFill>
                        </a:rPr>
                        <a:t>MAE</a:t>
                      </a:r>
                      <a:endParaRPr sz="2200"/>
                    </a:p>
                  </a:txBody>
                  <a:tcPr marT="45725" marB="45725" marR="91450" marL="91450">
                    <a:solidFill>
                      <a:srgbClr val="1E77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cap="none" strike="noStrike">
                          <a:solidFill>
                            <a:srgbClr val="FFFFFF"/>
                          </a:solidFill>
                        </a:rPr>
                        <a:t>RMSE</a:t>
                      </a:r>
                      <a:endParaRPr sz="2200"/>
                    </a:p>
                  </a:txBody>
                  <a:tcPr marT="45725" marB="45725" marR="91450" marL="91450">
                    <a:solidFill>
                      <a:srgbClr val="1E77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cap="none" strike="noStrike">
                          <a:solidFill>
                            <a:srgbClr val="FFFFFF"/>
                          </a:solidFill>
                        </a:rPr>
                        <a:t>Mean error</a:t>
                      </a:r>
                      <a:endParaRPr sz="2200"/>
                    </a:p>
                  </a:txBody>
                  <a:tcPr marT="45725" marB="45725" marR="91450" marL="91450">
                    <a:solidFill>
                      <a:srgbClr val="1E77B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CRR + HV_63d (амер.)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107.1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140.6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−89.7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Black-76 + HV_63d (евр.)</a:t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156.2</a:t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211.6</a:t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−149.0</a:t>
                      </a:r>
                      <a:endParaRPr sz="20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90" name="Google Shape;190;p8"/>
          <p:cNvSpPr txBox="1"/>
          <p:nvPr/>
        </p:nvSpPr>
        <p:spPr>
          <a:xfrm>
            <a:off x="7132800" y="1198475"/>
            <a:ext cx="4778100" cy="14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Премия раннего исполнения:</a:t>
            </a:r>
            <a:endParaRPr b="1" sz="26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983076" y="4358718"/>
            <a:ext cx="2514600" cy="749700"/>
          </a:xfrm>
          <a:prstGeom prst="roundRect">
            <a:avLst>
              <a:gd fmla="val 16667" name="adj"/>
            </a:avLst>
          </a:prstGeom>
          <a:solidFill>
            <a:srgbClr val="459ACC"/>
          </a:solidFill>
          <a:ln cap="flat" cmpd="sng" w="9525">
            <a:solidFill>
              <a:srgbClr val="459A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σ = </a:t>
            </a: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HV_63d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 txBox="1"/>
          <p:nvPr/>
        </p:nvSpPr>
        <p:spPr>
          <a:xfrm>
            <a:off x="3567774" y="4487275"/>
            <a:ext cx="568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6A6A6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4369700" y="3376825"/>
            <a:ext cx="2514600" cy="1191900"/>
          </a:xfrm>
          <a:prstGeom prst="roundRect">
            <a:avLst>
              <a:gd fmla="val 16667" name="adj"/>
            </a:avLst>
          </a:prstGeom>
          <a:solidFill>
            <a:srgbClr val="1E77B4"/>
          </a:solidFill>
          <a:ln cap="flat" cmpd="sng" w="9525">
            <a:solidFill>
              <a:srgbClr val="1E77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CRR </a:t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учитывает досрочное исполнение</a:t>
            </a:r>
            <a:endParaRPr sz="1800"/>
          </a:p>
        </p:txBody>
      </p:sp>
      <p:sp>
        <p:nvSpPr>
          <p:cNvPr id="194" name="Google Shape;194;p8"/>
          <p:cNvSpPr txBox="1"/>
          <p:nvPr/>
        </p:nvSpPr>
        <p:spPr>
          <a:xfrm>
            <a:off x="5892623" y="5059393"/>
            <a:ext cx="34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6A6A6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4369700" y="4779800"/>
            <a:ext cx="2514600" cy="1191900"/>
          </a:xfrm>
          <a:prstGeom prst="roundRect">
            <a:avLst>
              <a:gd fmla="val 16667" name="adj"/>
            </a:avLst>
          </a:prstGeom>
          <a:solidFill>
            <a:srgbClr val="459ACC"/>
          </a:solidFill>
          <a:ln cap="flat" cmpd="sng" w="9525">
            <a:solidFill>
              <a:srgbClr val="459A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Black-76</a:t>
            </a:r>
            <a:endParaRPr b="1" i="0" sz="2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исполнение на экспирации</a:t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 txBox="1"/>
          <p:nvPr/>
        </p:nvSpPr>
        <p:spPr>
          <a:xfrm>
            <a:off x="8774120" y="5059393"/>
            <a:ext cx="347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7756317" y="4311618"/>
            <a:ext cx="2514600" cy="749700"/>
          </a:xfrm>
          <a:prstGeom prst="roundRect">
            <a:avLst>
              <a:gd fmla="val 16667" name="adj"/>
            </a:avLst>
          </a:prstGeom>
          <a:solidFill>
            <a:srgbClr val="1D6A4A"/>
          </a:solidFill>
          <a:ln cap="flat" cmpd="sng" w="9525">
            <a:solidFill>
              <a:srgbClr val="1D6A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P_B76 &lt; P_CRR</a:t>
            </a:r>
            <a:endParaRPr sz="2200"/>
          </a:p>
        </p:txBody>
      </p:sp>
      <p:sp>
        <p:nvSpPr>
          <p:cNvPr id="198" name="Google Shape;198;p8"/>
          <p:cNvSpPr txBox="1"/>
          <p:nvPr/>
        </p:nvSpPr>
        <p:spPr>
          <a:xfrm>
            <a:off x="7146601" y="4440168"/>
            <a:ext cx="34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6A6A6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pic>
        <p:nvPicPr>
          <p:cNvPr id="199" name="Google Shape;19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5870" y="1742350"/>
            <a:ext cx="2747256" cy="6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8"/>
          <p:cNvSpPr txBox="1"/>
          <p:nvPr/>
        </p:nvSpPr>
        <p:spPr>
          <a:xfrm>
            <a:off x="7295400" y="2293975"/>
            <a:ext cx="46155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Средняя на исследуемых данных: 59.28 пт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"/>
          <p:cNvSpPr txBox="1"/>
          <p:nvPr/>
        </p:nvSpPr>
        <p:spPr>
          <a:xfrm>
            <a:off x="365760" y="201168"/>
            <a:ext cx="11457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44F7B"/>
                </a:solidFill>
                <a:latin typeface="Calibri"/>
                <a:ea typeface="Calibri"/>
                <a:cs typeface="Calibri"/>
                <a:sym typeface="Calibri"/>
              </a:rPr>
              <a:t>Формальные проверки и устойчивость</a:t>
            </a:r>
            <a:endParaRPr sz="3300"/>
          </a:p>
        </p:txBody>
      </p:sp>
      <p:sp>
        <p:nvSpPr>
          <p:cNvPr id="206" name="Google Shape;206;p11"/>
          <p:cNvSpPr/>
          <p:nvPr/>
        </p:nvSpPr>
        <p:spPr>
          <a:xfrm>
            <a:off x="365760" y="822960"/>
            <a:ext cx="11457432" cy="36576"/>
          </a:xfrm>
          <a:prstGeom prst="rect">
            <a:avLst/>
          </a:prstGeom>
          <a:solidFill>
            <a:srgbClr val="459AC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392356" y="1155150"/>
            <a:ext cx="6988200" cy="384000"/>
          </a:xfrm>
          <a:prstGeom prst="roundRect">
            <a:avLst>
              <a:gd fmla="val 16667" name="adj"/>
            </a:avLst>
          </a:prstGeom>
          <a:solidFill>
            <a:srgbClr val="1E77B4"/>
          </a:solidFill>
          <a:ln cap="flat" cmpd="sng" w="9525">
            <a:solidFill>
              <a:srgbClr val="1E77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Тест средней ошибки</a:t>
            </a:r>
            <a:endParaRPr sz="2200"/>
          </a:p>
        </p:txBody>
      </p:sp>
      <p:sp>
        <p:nvSpPr>
          <p:cNvPr id="208" name="Google Shape;208;p11"/>
          <p:cNvSpPr txBox="1"/>
          <p:nvPr/>
        </p:nvSpPr>
        <p:spPr>
          <a:xfrm>
            <a:off x="392344" y="1892456"/>
            <a:ext cx="6988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Calibri"/>
              <a:buChar char="❏"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Проверяем, есть ли систематическое смещение модели.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Результат: все μ&lt;0, p&lt;0.001 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Calibri"/>
              <a:buChar char="❏"/>
            </a:pPr>
            <a:r>
              <a:rPr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Систематическое занижение статистически значимо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358403" y="2995610"/>
            <a:ext cx="6988200" cy="384000"/>
          </a:xfrm>
          <a:prstGeom prst="roundRect">
            <a:avLst>
              <a:gd fmla="val 16667" name="adj"/>
            </a:avLst>
          </a:prstGeom>
          <a:solidFill>
            <a:srgbClr val="1E77B4"/>
          </a:solidFill>
          <a:ln cap="flat" cmpd="sng" w="9525">
            <a:solidFill>
              <a:srgbClr val="1E77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Diebold–Mariano</a:t>
            </a:r>
            <a:endParaRPr sz="2200"/>
          </a:p>
        </p:txBody>
      </p:sp>
      <p:sp>
        <p:nvSpPr>
          <p:cNvPr id="210" name="Google Shape;210;p11"/>
          <p:cNvSpPr txBox="1"/>
          <p:nvPr/>
        </p:nvSpPr>
        <p:spPr>
          <a:xfrm>
            <a:off x="426234" y="3379604"/>
            <a:ext cx="6988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Calibri"/>
              <a:buChar char="❏"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Сравниваем качество моделей по дневным loss-функциям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Calibri"/>
              <a:buChar char="❏"/>
            </a:pPr>
            <a:r>
              <a:rPr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GARCH и HV_63d статистически неразличимы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Calibri"/>
              <a:buChar char="❏"/>
            </a:pPr>
            <a:r>
              <a:rPr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HV_21d значимо хуже HV_63d (p = 0.0003)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324466" y="4921566"/>
            <a:ext cx="6988200" cy="384000"/>
          </a:xfrm>
          <a:prstGeom prst="roundRect">
            <a:avLst>
              <a:gd fmla="val 16667" name="adj"/>
            </a:avLst>
          </a:prstGeom>
          <a:solidFill>
            <a:srgbClr val="1E77B4"/>
          </a:solidFill>
          <a:ln cap="flat" cmpd="sng" w="9525">
            <a:solidFill>
              <a:srgbClr val="1E77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OLS на абсолютных ошибках</a:t>
            </a:r>
            <a:endParaRPr sz="2200"/>
          </a:p>
        </p:txBody>
      </p:sp>
      <p:sp>
        <p:nvSpPr>
          <p:cNvPr id="212" name="Google Shape;212;p11"/>
          <p:cNvSpPr txBox="1"/>
          <p:nvPr/>
        </p:nvSpPr>
        <p:spPr>
          <a:xfrm>
            <a:off x="426218" y="5721475"/>
            <a:ext cx="6988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R² = 0.27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Calibri"/>
              <a:buChar char="❏"/>
            </a:pPr>
            <a:r>
              <a:rPr b="0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DTE (+0.16, p&lt;0.001) и |log-moneyness| (−178, p&lt;0.001)</a:t>
            </a:r>
            <a:endParaRPr sz="1600"/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Calibri"/>
              <a:buChar char="❏"/>
            </a:pPr>
            <a:r>
              <a:rPr b="0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объясняют</a:t>
            </a: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вариаци</a:t>
            </a: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ю</a:t>
            </a:r>
            <a:r>
              <a:rPr b="0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ошибок</a:t>
            </a: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больше, чем режим волатильности</a:t>
            </a:r>
            <a:endParaRPr sz="1600"/>
          </a:p>
        </p:txBody>
      </p:sp>
      <p:sp>
        <p:nvSpPr>
          <p:cNvPr id="213" name="Google Shape;213;p11"/>
          <p:cNvSpPr/>
          <p:nvPr/>
        </p:nvSpPr>
        <p:spPr>
          <a:xfrm>
            <a:off x="7702525" y="1155150"/>
            <a:ext cx="4276500" cy="384000"/>
          </a:xfrm>
          <a:prstGeom prst="roundRect">
            <a:avLst>
              <a:gd fmla="val 16667" name="adj"/>
            </a:avLst>
          </a:prstGeom>
          <a:solidFill>
            <a:srgbClr val="459ACC"/>
          </a:solidFill>
          <a:ln cap="flat" cmpd="sng" w="9525">
            <a:solidFill>
              <a:srgbClr val="459A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Устойчивость</a:t>
            </a:r>
            <a:endParaRPr sz="2200"/>
          </a:p>
        </p:txBody>
      </p:sp>
      <p:graphicFrame>
        <p:nvGraphicFramePr>
          <p:cNvPr id="214" name="Google Shape;214;p11"/>
          <p:cNvGraphicFramePr/>
          <p:nvPr/>
        </p:nvGraphicFramePr>
        <p:xfrm>
          <a:off x="7702270" y="16123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{E3A17A9E-DB92-4145-AF2B-E9A752306A9F}</a:tableStyleId>
              </a:tblPr>
              <a:tblGrid>
                <a:gridCol w="2154425"/>
                <a:gridCol w="2121925"/>
              </a:tblGrid>
              <a:tr h="493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</a:rPr>
                        <a:t>Подвыборка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1E77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Лучшая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1E77B4"/>
                    </a:solidFill>
                  </a:tcPr>
                </a:tc>
              </a:tr>
              <a:tr h="493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Полная выборка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GARCH ≈ HV_63d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EBF5FB"/>
                    </a:solidFill>
                  </a:tcPr>
                </a:tc>
              </a:tr>
              <a:tr h="493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Без </a:t>
                      </a:r>
                      <a:r>
                        <a:rPr lang="en-US" sz="1800">
                          <a:solidFill>
                            <a:srgbClr val="1A1A2E"/>
                          </a:solidFill>
                        </a:rPr>
                        <a:t>глубоко</a:t>
                      </a:r>
                      <a:r>
                        <a:rPr b="0" lang="en-US" sz="18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b="0" sz="1800" u="none" cap="none" strike="noStrike">
                        <a:solidFill>
                          <a:srgbClr val="1A1A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OTM / ITM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GARCH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493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DTE ≤ 91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GARCH </a:t>
                      </a:r>
                      <a:endParaRPr b="0" sz="1800" u="none" cap="none" strike="noStrike">
                        <a:solidFill>
                          <a:srgbClr val="1A1A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(22.27 vs 29.92)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EBF5FB"/>
                    </a:solidFill>
                  </a:tcPr>
                </a:tc>
              </a:tr>
              <a:tr h="493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DTE &gt; 91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HV_63d ≈ GARCH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493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Без high_vol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GARCH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EBF5FB"/>
                    </a:solidFill>
                  </a:tcPr>
                </a:tc>
              </a:tr>
              <a:tr h="493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 = 12% / 16% / 20%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MAE меняется на </a:t>
                      </a:r>
                      <a:endParaRPr b="0" sz="1800" u="none" cap="none" strike="noStrike">
                        <a:solidFill>
                          <a:srgbClr val="1A1A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±5 пт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15" name="Google Shape;215;p11"/>
          <p:cNvSpPr txBox="1"/>
          <p:nvPr/>
        </p:nvSpPr>
        <p:spPr>
          <a:xfrm>
            <a:off x="7696364" y="5721475"/>
            <a:ext cx="4336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Результаты устойчивы во всех подвыборках</a:t>
            </a:r>
            <a:endParaRPr b="1" sz="2100">
              <a:solidFill>
                <a:schemeClr val="accent1"/>
              </a:solidFill>
            </a:endParaRPr>
          </a:p>
        </p:txBody>
      </p:sp>
      <p:pic>
        <p:nvPicPr>
          <p:cNvPr id="216" name="Google Shape;216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5624" y="3474300"/>
            <a:ext cx="1604099" cy="46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0994" y="1639800"/>
            <a:ext cx="1466654" cy="33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26050" y="1639775"/>
            <a:ext cx="1193675" cy="33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51275" y="1639800"/>
            <a:ext cx="1246200" cy="33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8700" y="5440400"/>
            <a:ext cx="6067374" cy="28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2"/>
          <p:cNvSpPr txBox="1"/>
          <p:nvPr/>
        </p:nvSpPr>
        <p:spPr>
          <a:xfrm>
            <a:off x="365760" y="201168"/>
            <a:ext cx="11457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44F7B"/>
                </a:solidFill>
                <a:latin typeface="Calibri"/>
                <a:ea typeface="Calibri"/>
                <a:cs typeface="Calibri"/>
                <a:sym typeface="Calibri"/>
              </a:rPr>
              <a:t>Итоговые выводы</a:t>
            </a:r>
            <a:endParaRPr sz="1600"/>
          </a:p>
        </p:txBody>
      </p:sp>
      <p:sp>
        <p:nvSpPr>
          <p:cNvPr id="226" name="Google Shape;226;p12"/>
          <p:cNvSpPr/>
          <p:nvPr/>
        </p:nvSpPr>
        <p:spPr>
          <a:xfrm>
            <a:off x="365760" y="822960"/>
            <a:ext cx="11457432" cy="36576"/>
          </a:xfrm>
          <a:prstGeom prst="rect">
            <a:avLst/>
          </a:prstGeom>
          <a:solidFill>
            <a:srgbClr val="459AC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794550" y="1276725"/>
            <a:ext cx="458400" cy="679500"/>
          </a:xfrm>
          <a:prstGeom prst="roundRect">
            <a:avLst>
              <a:gd fmla="val 16667" name="adj"/>
            </a:avLst>
          </a:prstGeom>
          <a:solidFill>
            <a:srgbClr val="1E77B4"/>
          </a:solidFill>
          <a:ln cap="flat" cmpd="sng" w="9525">
            <a:solidFill>
              <a:srgbClr val="1E77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sz="2000"/>
          </a:p>
        </p:txBody>
      </p:sp>
      <p:sp>
        <p:nvSpPr>
          <p:cNvPr id="228" name="Google Shape;228;p12"/>
          <p:cNvSpPr txBox="1"/>
          <p:nvPr/>
        </p:nvSpPr>
        <p:spPr>
          <a:xfrm>
            <a:off x="1394026" y="1276725"/>
            <a:ext cx="10429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Гипотеза не отвергается в уточнённой форме:</a:t>
            </a:r>
            <a:br>
              <a:rPr b="0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Р</a:t>
            </a:r>
            <a:r>
              <a:rPr b="0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ежим влияет на ошибку, но DTE и </a:t>
            </a:r>
            <a:r>
              <a:rPr lang="en-US" sz="2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денежность</a:t>
            </a:r>
            <a:r>
              <a:rPr b="0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объясняют значительную часть эффекта</a:t>
            </a:r>
            <a:endParaRPr sz="2000"/>
          </a:p>
        </p:txBody>
      </p:sp>
      <p:sp>
        <p:nvSpPr>
          <p:cNvPr id="229" name="Google Shape;229;p12"/>
          <p:cNvSpPr/>
          <p:nvPr/>
        </p:nvSpPr>
        <p:spPr>
          <a:xfrm>
            <a:off x="794550" y="2239345"/>
            <a:ext cx="458400" cy="679500"/>
          </a:xfrm>
          <a:prstGeom prst="roundRect">
            <a:avLst>
              <a:gd fmla="val 16667" name="adj"/>
            </a:avLst>
          </a:prstGeom>
          <a:solidFill>
            <a:srgbClr val="1E77B4"/>
          </a:solidFill>
          <a:ln cap="flat" cmpd="sng" w="9525">
            <a:solidFill>
              <a:srgbClr val="1E77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endParaRPr sz="2000"/>
          </a:p>
        </p:txBody>
      </p:sp>
      <p:sp>
        <p:nvSpPr>
          <p:cNvPr id="230" name="Google Shape;230;p12"/>
          <p:cNvSpPr txBox="1"/>
          <p:nvPr/>
        </p:nvSpPr>
        <p:spPr>
          <a:xfrm>
            <a:off x="1394026" y="2239345"/>
            <a:ext cx="10429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Премия за раннее исполнение действительно существует</a:t>
            </a:r>
            <a:r>
              <a:rPr b="1" i="0" lang="en-US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br>
              <a:rPr b="0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Black-76 даёт MAE на 46% хуже </a:t>
            </a:r>
            <a:endParaRPr sz="2000"/>
          </a:p>
        </p:txBody>
      </p:sp>
      <p:sp>
        <p:nvSpPr>
          <p:cNvPr id="231" name="Google Shape;231;p12"/>
          <p:cNvSpPr/>
          <p:nvPr/>
        </p:nvSpPr>
        <p:spPr>
          <a:xfrm>
            <a:off x="794550" y="3201964"/>
            <a:ext cx="458400" cy="679500"/>
          </a:xfrm>
          <a:prstGeom prst="roundRect">
            <a:avLst>
              <a:gd fmla="val 16667" name="adj"/>
            </a:avLst>
          </a:prstGeom>
          <a:solidFill>
            <a:srgbClr val="1E77B4"/>
          </a:solidFill>
          <a:ln cap="flat" cmpd="sng" w="9525">
            <a:solidFill>
              <a:srgbClr val="1E77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endParaRPr sz="2000"/>
          </a:p>
        </p:txBody>
      </p:sp>
      <p:sp>
        <p:nvSpPr>
          <p:cNvPr id="232" name="Google Shape;232;p12"/>
          <p:cNvSpPr txBox="1"/>
          <p:nvPr/>
        </p:nvSpPr>
        <p:spPr>
          <a:xfrm>
            <a:off x="1394026" y="3201964"/>
            <a:ext cx="10429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Качество модели зависит от горизонта</a:t>
            </a:r>
            <a:r>
              <a:rPr b="1" i="0" lang="en-US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br>
              <a:rPr b="0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На коротких DTE выигрывает</a:t>
            </a:r>
            <a:r>
              <a:rPr b="0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GARCH</a:t>
            </a:r>
            <a:r>
              <a:rPr lang="en-US" sz="2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, на длинных- различия сглаживаются</a:t>
            </a:r>
            <a:endParaRPr sz="2000"/>
          </a:p>
        </p:txBody>
      </p:sp>
      <p:sp>
        <p:nvSpPr>
          <p:cNvPr id="233" name="Google Shape;233;p12"/>
          <p:cNvSpPr/>
          <p:nvPr/>
        </p:nvSpPr>
        <p:spPr>
          <a:xfrm>
            <a:off x="794550" y="4164584"/>
            <a:ext cx="458400" cy="679500"/>
          </a:xfrm>
          <a:prstGeom prst="roundRect">
            <a:avLst>
              <a:gd fmla="val 16667" name="adj"/>
            </a:avLst>
          </a:prstGeom>
          <a:solidFill>
            <a:srgbClr val="1E77B4"/>
          </a:solidFill>
          <a:ln cap="flat" cmpd="sng" w="9525">
            <a:solidFill>
              <a:srgbClr val="1E77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</a:t>
            </a:r>
            <a:endParaRPr sz="2000"/>
          </a:p>
        </p:txBody>
      </p:sp>
      <p:sp>
        <p:nvSpPr>
          <p:cNvPr id="234" name="Google Shape;234;p12"/>
          <p:cNvSpPr txBox="1"/>
          <p:nvPr/>
        </p:nvSpPr>
        <p:spPr>
          <a:xfrm>
            <a:off x="1394026" y="4164584"/>
            <a:ext cx="10429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GARCH лучше описывает временную стоимость:</a:t>
            </a:r>
            <a:br>
              <a:rPr b="0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TVNAE 0.66 vs 0.70</a:t>
            </a:r>
            <a:r>
              <a:rPr lang="en-US" sz="2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0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Н</a:t>
            </a:r>
            <a:r>
              <a:rPr b="0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а DTE 0–7 ошибка в 3 раза меньше</a:t>
            </a:r>
            <a:endParaRPr sz="2000"/>
          </a:p>
        </p:txBody>
      </p:sp>
      <p:sp>
        <p:nvSpPr>
          <p:cNvPr id="235" name="Google Shape;235;p12"/>
          <p:cNvSpPr/>
          <p:nvPr/>
        </p:nvSpPr>
        <p:spPr>
          <a:xfrm>
            <a:off x="794550" y="5127204"/>
            <a:ext cx="458400" cy="679500"/>
          </a:xfrm>
          <a:prstGeom prst="roundRect">
            <a:avLst>
              <a:gd fmla="val 16667" name="adj"/>
            </a:avLst>
          </a:prstGeom>
          <a:solidFill>
            <a:srgbClr val="1E77B4"/>
          </a:solidFill>
          <a:ln cap="flat" cmpd="sng" w="9525">
            <a:solidFill>
              <a:srgbClr val="1E77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</a:t>
            </a:r>
            <a:endParaRPr sz="2000"/>
          </a:p>
        </p:txBody>
      </p:sp>
      <p:sp>
        <p:nvSpPr>
          <p:cNvPr id="236" name="Google Shape;236;p12"/>
          <p:cNvSpPr txBox="1"/>
          <p:nvPr/>
        </p:nvSpPr>
        <p:spPr>
          <a:xfrm>
            <a:off x="1394026" y="5127204"/>
            <a:ext cx="10429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Все модели систематически недооценивают рынок:</a:t>
            </a:r>
            <a:br>
              <a:rPr b="0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Набор параметров, на основе которых оцениваются модели, не позволяет оценить все факторы, значимо влияющие на цену. </a:t>
            </a:r>
            <a:endParaRPr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"/>
          <p:cNvSpPr txBox="1"/>
          <p:nvPr/>
        </p:nvSpPr>
        <p:spPr>
          <a:xfrm>
            <a:off x="365760" y="201168"/>
            <a:ext cx="11457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44F7B"/>
                </a:solidFill>
                <a:latin typeface="Calibri"/>
                <a:ea typeface="Calibri"/>
                <a:cs typeface="Calibri"/>
                <a:sym typeface="Calibri"/>
              </a:rPr>
              <a:t>Ограничения и направления развития</a:t>
            </a:r>
            <a:endParaRPr sz="1700"/>
          </a:p>
        </p:txBody>
      </p:sp>
      <p:sp>
        <p:nvSpPr>
          <p:cNvPr id="242" name="Google Shape;242;p13"/>
          <p:cNvSpPr/>
          <p:nvPr/>
        </p:nvSpPr>
        <p:spPr>
          <a:xfrm>
            <a:off x="365760" y="822960"/>
            <a:ext cx="11457432" cy="36576"/>
          </a:xfrm>
          <a:prstGeom prst="rect">
            <a:avLst/>
          </a:prstGeom>
          <a:solidFill>
            <a:srgbClr val="459AC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3"/>
          <p:cNvSpPr/>
          <p:nvPr/>
        </p:nvSpPr>
        <p:spPr>
          <a:xfrm>
            <a:off x="365760" y="1285170"/>
            <a:ext cx="5394900" cy="384000"/>
          </a:xfrm>
          <a:prstGeom prst="roundRect">
            <a:avLst>
              <a:gd fmla="val 16667" name="adj"/>
            </a:avLst>
          </a:prstGeom>
          <a:solidFill>
            <a:srgbClr val="1E77B4"/>
          </a:solidFill>
          <a:ln cap="flat" cmpd="sng" w="9525">
            <a:solidFill>
              <a:srgbClr val="1E77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Ограничения исследования</a:t>
            </a:r>
            <a:endParaRPr sz="2200"/>
          </a:p>
        </p:txBody>
      </p:sp>
      <p:sp>
        <p:nvSpPr>
          <p:cNvPr id="244" name="Google Shape;244;p13"/>
          <p:cNvSpPr txBox="1"/>
          <p:nvPr/>
        </p:nvSpPr>
        <p:spPr>
          <a:xfrm>
            <a:off x="365760" y="1742370"/>
            <a:ext cx="5394900" cy="41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❏"/>
            </a:pPr>
            <a:r>
              <a:rPr b="1" lang="en-US" sz="2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Короткий период анализа:</a:t>
            </a:r>
            <a:r>
              <a:rPr lang="en-US" sz="2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около 2 лет данных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❏"/>
            </a:pPr>
            <a:r>
              <a:rPr b="1" lang="en-US" sz="2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Один рынок и один класс инструментов:</a:t>
            </a:r>
            <a:r>
              <a:rPr lang="en-US" sz="2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американские опционы на фьючерс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❏"/>
            </a:pPr>
            <a:r>
              <a:rPr b="1" lang="en-US" sz="2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Расчётные цены вместо сделочных:</a:t>
            </a:r>
            <a:r>
              <a:rPr lang="en-US" sz="2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исследование основано на SETTLEPRICE, без полноценного учёта bid-ask spread, объёмов и внутридневной ликвидности.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000"/>
              <a:buChar char="❏"/>
            </a:pPr>
            <a:r>
              <a:rPr b="1" lang="en-US" sz="2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Упрощение моделей:</a:t>
            </a:r>
            <a:r>
              <a:rPr lang="en-US" sz="2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используется одна оценка волатильности на контракт, постоянная ставка </a:t>
            </a:r>
            <a:endParaRPr sz="20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/>
          <p:nvPr/>
        </p:nvSpPr>
        <p:spPr>
          <a:xfrm>
            <a:off x="6071000" y="1285175"/>
            <a:ext cx="5816100" cy="384000"/>
          </a:xfrm>
          <a:prstGeom prst="roundRect">
            <a:avLst>
              <a:gd fmla="val 16667" name="adj"/>
            </a:avLst>
          </a:prstGeom>
          <a:solidFill>
            <a:srgbClr val="459ACC"/>
          </a:solidFill>
          <a:ln cap="flat" cmpd="sng" w="9525">
            <a:solidFill>
              <a:srgbClr val="459A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Направления развития</a:t>
            </a:r>
            <a:endParaRPr sz="2200"/>
          </a:p>
        </p:txBody>
      </p:sp>
      <p:sp>
        <p:nvSpPr>
          <p:cNvPr id="246" name="Google Shape;246;p13"/>
          <p:cNvSpPr txBox="1"/>
          <p:nvPr/>
        </p:nvSpPr>
        <p:spPr>
          <a:xfrm>
            <a:off x="6006000" y="1769825"/>
            <a:ext cx="5881200" cy="55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rgbClr val="1A1A2E"/>
              </a:buClr>
              <a:buSzPts val="2000"/>
              <a:buFont typeface="Calibri"/>
              <a:buChar char="❏"/>
            </a:pPr>
            <a:r>
              <a:rPr b="1" lang="en-US" sz="2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Расширить выборку:</a:t>
            </a:r>
            <a:r>
              <a:rPr lang="en-US" sz="2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больший период, другие режимы и рынки.</a:t>
            </a:r>
            <a:endParaRPr sz="20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rgbClr val="1A1A2E"/>
              </a:buClr>
              <a:buSzPts val="2000"/>
              <a:buFont typeface="Calibri"/>
              <a:buChar char="❏"/>
            </a:pPr>
            <a:r>
              <a:rPr b="1" lang="en-US" sz="2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Реализовать полноценную оценку волатильности: </a:t>
            </a:r>
            <a:r>
              <a:rPr lang="en-US" sz="2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построить полноценную IV surface по DTE и денежности.</a:t>
            </a:r>
            <a:endParaRPr sz="20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rgbClr val="1A1A2E"/>
              </a:buClr>
              <a:buSzPts val="2000"/>
              <a:buFont typeface="Calibri"/>
              <a:buChar char="❏"/>
            </a:pPr>
            <a:r>
              <a:rPr b="1" lang="en-US" sz="2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Добавить учет ликвидности:    </a:t>
            </a:r>
            <a:r>
              <a:rPr lang="en-US" sz="2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                 bid-ask, объёмы, открытый интерес.</a:t>
            </a:r>
            <a:endParaRPr sz="20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rgbClr val="1A1A2E"/>
              </a:buClr>
              <a:buSzPts val="2000"/>
              <a:buFont typeface="Calibri"/>
              <a:buChar char="❏"/>
            </a:pPr>
            <a:r>
              <a:rPr b="1" lang="en-US" sz="2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Проверить более гибкие модели: </a:t>
            </a:r>
            <a:r>
              <a:rPr lang="en-US" sz="2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             Heston, jumps, regime-switching</a:t>
            </a:r>
            <a:endParaRPr sz="20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rgbClr val="1A1A2E"/>
              </a:buClr>
              <a:buSzPts val="2000"/>
              <a:buFont typeface="Calibri"/>
              <a:buChar char="❏"/>
            </a:pPr>
            <a:r>
              <a:rPr b="1" lang="en-US" sz="2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Расширить методологию:  </a:t>
            </a:r>
            <a:r>
              <a:rPr lang="en-US" sz="2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             Использовать ML для корректировки модельной ошибки</a:t>
            </a:r>
            <a:endParaRPr sz="20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4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77B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4"/>
          <p:cNvSpPr txBox="1"/>
          <p:nvPr/>
        </p:nvSpPr>
        <p:spPr>
          <a:xfrm>
            <a:off x="914400" y="2194560"/>
            <a:ext cx="1036015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44F7B"/>
                </a:solidFill>
                <a:latin typeface="Calibri"/>
                <a:ea typeface="Calibri"/>
                <a:cs typeface="Calibri"/>
                <a:sym typeface="Calibri"/>
              </a:rPr>
              <a:t>Спасибо за внимание!</a:t>
            </a:r>
            <a:endParaRPr/>
          </a:p>
        </p:txBody>
      </p:sp>
      <p:sp>
        <p:nvSpPr>
          <p:cNvPr id="253" name="Google Shape;253;p14"/>
          <p:cNvSpPr txBox="1"/>
          <p:nvPr/>
        </p:nvSpPr>
        <p:spPr>
          <a:xfrm>
            <a:off x="914400" y="3474720"/>
            <a:ext cx="10360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