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777777"/>
                </a:solidFill>
                <a:latin typeface="Calibri Light"/>
              </a:defRPr>
            </a:pPr>
            <a:r>
              <a:t>НИУ ВШЭ · Факультет экономических наук · Образовательная программа «Экономика»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745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144F7B"/>
                </a:solidFill>
                <a:latin typeface="Calibri Light"/>
              </a:defRPr>
            </a:pPr>
            <a:r>
              <a:t>Исследование устойчивости моделей волатильности</a:t>
            </a:r>
            <a:br/>
            <a:r>
              <a:t>и ценообразования опционов</a:t>
            </a:r>
            <a:br/>
            <a:r>
              <a:t>в различных рыночных режимах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520440"/>
            <a:ext cx="761695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12745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333333"/>
                </a:solidFill>
                <a:latin typeface="Calibri Light"/>
              </a:defRPr>
            </a:pPr>
            <a:r>
              <a:t>Ковалёва Мария Сергеевна, 3 курс, группа БЭК2310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45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 Light"/>
              </a:defRPr>
            </a:pPr>
            <a:r>
              <a:t>Научный руководитель: Сизых Наталья Васильевна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12745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 Light"/>
              </a:defRPr>
            </a:pPr>
            <a:r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Контекст и 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3566160" cy="2468880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Рынок</a:t>
            </a:r>
          </a:p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</a:p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Опционы торгуются на бирже.</a:t>
            </a:r>
          </a:p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У каждого контракта есть</a:t>
            </a:r>
          </a:p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наблюдаемая рыночная цена.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051560"/>
            <a:ext cx="3566160" cy="2468880"/>
          </a:xfrm>
          <a:prstGeom prst="roundRect">
            <a:avLst/>
          </a:prstGeom>
          <a:solidFill>
            <a:srgbClr val="459ACC"/>
          </a:solidFill>
          <a:ln>
            <a:solidFill>
              <a:srgbClr val="45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Модели</a:t>
            </a:r>
          </a:p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</a:p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Для оценки «справедливой» цены используют формульные модели:</a:t>
            </a:r>
          </a:p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Black-76, CRR и др.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051560"/>
            <a:ext cx="3566160" cy="2468880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Проблема</a:t>
            </a:r>
          </a:p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</a:p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Модели учитывают ограниченный набор факторов, а рыночная цена агрегирует больше информации. Поэтому ошибка зависит от режима и характеристик опциона.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11457432" cy="2971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A1A2E"/>
                </a:solidFill>
                <a:latin typeface="Calibri Light"/>
              </a:defRPr>
            </a:pPr>
            <a:r>
              <a:t>→ Насколько точны популярные модели на реальных российских данных?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Гипотеза и цель исследования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11430000" cy="438912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Гипотеза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36192"/>
            <a:ext cx="11457432" cy="518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A1A2E"/>
                </a:solidFill>
                <a:latin typeface="Calibri Light"/>
              </a:defRPr>
            </a:pPr>
            <a:r>
              <a:t>Ошибка моделей зависит от рыночного режима и возрастает в stress regime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11430000" cy="438912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Цель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44952"/>
            <a:ext cx="11457432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A1A2E"/>
                </a:solidFill>
                <a:latin typeface="Calibri Light"/>
              </a:defRPr>
            </a:pPr>
            <a:r>
              <a:t>Исследовать устойчивость моделей волатильности и ценообразования опционов</a:t>
            </a:r>
          </a:p>
          <a:p>
            <a:pPr>
              <a:defRPr sz="1800" b="0">
                <a:solidFill>
                  <a:srgbClr val="1A1A2E"/>
                </a:solidFill>
                <a:latin typeface="Calibri Light"/>
              </a:defRPr>
            </a:pPr>
            <a:r>
              <a:t>в различных рыночных режимах на основе сравнения модельных и рыночных цен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11457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  <a:r>
              <a:t>→ Проверяем не «истинную цену», а устойчивость ошибки: как и где она меняется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Методология исследования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029200" cy="694944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MOEX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00784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A6A6A"/>
                </a:solidFill>
                <a:latin typeface="Calibri Light"/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56816"/>
            <a:ext cx="5029200" cy="694944"/>
          </a:xfrm>
          <a:prstGeom prst="roundRect">
            <a:avLst/>
          </a:prstGeom>
          <a:solidFill>
            <a:srgbClr val="459ACC"/>
          </a:solidFill>
          <a:ln>
            <a:solidFill>
              <a:srgbClr val="45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Оценка волатильности</a:t>
            </a:r>
          </a:p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HV_21d  ·  HV_63d  ·  GARCH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A6A6A"/>
                </a:solidFill>
                <a:latin typeface="Calibri Light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07792"/>
            <a:ext cx="5029200" cy="694944"/>
          </a:xfrm>
          <a:prstGeom prst="roundRect">
            <a:avLst/>
          </a:prstGeom>
          <a:solidFill>
            <a:srgbClr val="459ACC"/>
          </a:solidFill>
          <a:ln>
            <a:solidFill>
              <a:srgbClr val="45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Модель ценообразования</a:t>
            </a:r>
          </a:p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CRR American  ·  Black-76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02736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A6A6A"/>
                </a:solidFill>
                <a:latin typeface="Calibri Light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58768"/>
            <a:ext cx="5029200" cy="694944"/>
          </a:xfrm>
          <a:prstGeom prst="roundRect">
            <a:avLst/>
          </a:prstGeom>
          <a:solidFill>
            <a:srgbClr val="1D6A4A"/>
          </a:solidFill>
          <a:ln>
            <a:solidFill>
              <a:srgbClr val="1D6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Ошибка:  model price − market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53712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A6A6A"/>
                </a:solidFill>
                <a:latin typeface="Calibri Light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809744"/>
            <a:ext cx="5029200" cy="694944"/>
          </a:xfrm>
          <a:prstGeom prst="roundRect">
            <a:avLst/>
          </a:prstGeom>
          <a:solidFill>
            <a:srgbClr val="1D6A4A"/>
          </a:solidFill>
          <a:ln>
            <a:solidFill>
              <a:srgbClr val="1D6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Анализ по vol_regime · DTE · moneyness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005840"/>
            <a:ext cx="6217920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5669280" y="2651760"/>
            <a:ext cx="6217920" cy="38404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Метрики качества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108960"/>
            <a:ext cx="62179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  <a:r>
              <a:t>MAE  ·  RMSE  ·  Mean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886200"/>
            <a:ext cx="6217920" cy="384048"/>
          </a:xfrm>
          <a:prstGeom prst="roundRect">
            <a:avLst/>
          </a:prstGeom>
          <a:solidFill>
            <a:srgbClr val="459ACC"/>
          </a:solidFill>
          <a:ln>
            <a:solidFill>
              <a:srgbClr val="45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Авторская метрика  TVNAE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34340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4F7B"/>
                </a:solidFill>
                <a:latin typeface="Calibri Light"/>
              </a:defRPr>
            </a:pPr>
            <a:r>
              <a:t>TVNAEᵢ = |P̂ᵢ − Pᵢ| / TVᵢ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919472"/>
            <a:ext cx="621792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A1A2E"/>
                </a:solidFill>
                <a:latin typeface="Calibri Light"/>
              </a:defRPr>
            </a:pPr>
            <a:r>
              <a:t>Ошибка нормируется на временну́ю стоимость —</a:t>
            </a:r>
          </a:p>
          <a:p>
            <a:pPr>
              <a:defRPr sz="1400" b="0">
                <a:solidFill>
                  <a:srgbClr val="1A1A2E"/>
                </a:solidFill>
                <a:latin typeface="Calibri Light"/>
              </a:defRPr>
            </a:pPr>
            <a:r>
              <a:t>ту часть цены, которую модель должна объяснять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Модели ценообразования и входные параметры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5486400" cy="420624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CRR American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Биномиальная модель для американских опционов.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Строит дерево цен, допускает досрочное исполнение.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Входы: F, K, T, r, σ, option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960120"/>
            <a:ext cx="5486400" cy="420624"/>
          </a:xfrm>
          <a:prstGeom prst="roundRect">
            <a:avLst/>
          </a:prstGeom>
          <a:solidFill>
            <a:srgbClr val="459ACC"/>
          </a:solidFill>
          <a:ln>
            <a:solidFill>
              <a:srgbClr val="45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Black-76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Европейский benchmark для опционов на фьючерсы.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Аналитическая формула, без досрочного исполнения.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Входы: F, K, T, r, 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143000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A1A2E"/>
                </a:solidFill>
                <a:latin typeface="Calibri Light"/>
              </a:defRPr>
            </a:pPr>
            <a:r>
              <a:t>σ — ключевой параметр: оценка σ варьируется между моделями.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C0392B"/>
                </a:solidFill>
                <a:latin typeface="Calibri Light"/>
              </a:defRPr>
            </a:pPr>
            <a:r>
              <a:t>Разные оценки σ → разные модельные цены → разные ошибки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3858768"/>
            <a:ext cx="2514600" cy="749808"/>
          </a:xfrm>
          <a:prstGeom prst="roundRect">
            <a:avLst/>
          </a:prstGeom>
          <a:solidFill>
            <a:srgbClr val="459ACC"/>
          </a:solidFill>
          <a:ln>
            <a:solidFill>
              <a:srgbClr val="45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HV_21d · HV_63d · GARCH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3858768"/>
            <a:ext cx="347472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A6A6A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3858768"/>
            <a:ext cx="2514600" cy="74980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3858768"/>
            <a:ext cx="347472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A6A6A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58768"/>
            <a:ext cx="2514600" cy="749808"/>
          </a:xfrm>
          <a:prstGeom prst="roundRect">
            <a:avLst/>
          </a:prstGeom>
          <a:solidFill>
            <a:srgbClr val="459ACC"/>
          </a:solidFill>
          <a:ln>
            <a:solidFill>
              <a:srgbClr val="45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CRR  /  Black-76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858768"/>
            <a:ext cx="347472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A6A6A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3858768"/>
            <a:ext cx="2514600" cy="749808"/>
          </a:xfrm>
          <a:prstGeom prst="roundRect">
            <a:avLst/>
          </a:prstGeom>
          <a:solidFill>
            <a:srgbClr val="1D6A4A"/>
          </a:solidFill>
          <a:ln>
            <a:solidFill>
              <a:srgbClr val="1D6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model price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Общее сравнение моделей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Mean error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CRR + GARCH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107.0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145.8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−78.1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CRR + HV_63d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107.1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−89.7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CRR + HV_21d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119.3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156.4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−95.3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2788920"/>
            <a:ext cx="11430000" cy="457200"/>
          </a:xfrm>
          <a:prstGeom prst="roundRect">
            <a:avLst/>
          </a:prstGeom>
          <a:solidFill>
            <a:srgbClr val="1D6A4A"/>
          </a:solidFill>
          <a:ln>
            <a:solidFill>
              <a:srgbClr val="1D6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GARCH ≈ HV_63d по MAE  ·  HV_21d хуже  ·  Mean error &lt; 0: все модели недооценивают рынок</a:t>
            </a:r>
          </a:p>
        </p:txBody>
      </p:sp>
      <p:pic>
        <p:nvPicPr>
          <p:cNvPr id="6" name="Picture 5" descr="fig_01_0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37560"/>
            <a:ext cx="11430000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Почему стандартных метрик недостаточно: TVNAE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5486400" cy="548640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TVNAEᵢ = |P̂ᵢ − Pᵢ| / TVᵢ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81912"/>
            <a:ext cx="5486400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  <a:latin typeface="Calibri Light"/>
              </a:defRPr>
            </a:pPr>
            <a:r>
              <a:t>где TVᵢ = Pᵢ − H(Fᵢ, Kᵢ)  (цена − внутренняя стоимость)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54864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MAE/RMSE считают ошибку по полной цене опциона.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TVNAE нормирует на временну́ю стоимость — часть, которую модель объясняет.</a:t>
            </a:r>
          </a:p>
          <a:p>
            <a:pPr>
              <a:spcAft>
                <a:spcPts val="300"/>
              </a:spcAft>
              <a:defRPr sz="15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Deep ITM: 90% цены — внутренняя стоимость → MAE занижает масштаб ошибки.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960120"/>
          <a:ext cx="5760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TVNAE mean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TVNAE median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CRR + GARCH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CRR + HV_63d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0.68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CRR + HV_21d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6480" y="2606040"/>
            <a:ext cx="5760720" cy="594360"/>
          </a:xfrm>
          <a:prstGeom prst="roundRect">
            <a:avLst/>
          </a:prstGeom>
          <a:solidFill>
            <a:srgbClr val="1D6A4A"/>
          </a:solidFill>
          <a:ln>
            <a:solidFill>
              <a:srgbClr val="1D6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По TVNAE GARCH лучше описывает временну́ю стоимость</a:t>
            </a:r>
          </a:p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DTE 0–7: GARCH TVNAE = 0.19 vs 0.59 у HV_63d</a:t>
            </a:r>
          </a:p>
        </p:txBody>
      </p:sp>
      <p:pic>
        <p:nvPicPr>
          <p:cNvPr id="9" name="Picture 8" descr="fig_pres_02_tvna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44" y="3291840"/>
            <a:ext cx="6684264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Американская модель vs Black-76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Mean error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CRR + HV_63d (амер.)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107.1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140.6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−89.7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Black-76 + HV_63d (евр.)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156.2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211.6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−149.0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2423160"/>
            <a:ext cx="11430000" cy="45720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24.5% цен Black-76 ниже внутренней стоимости → прямой арбитраж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962656"/>
            <a:ext cx="11430000" cy="45720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Средняя премия раннего исполнения: 59.28 пункта  (медиана 9.87; high vol + DTE 91+: 106 пт)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502152"/>
            <a:ext cx="11430000" cy="457200"/>
          </a:xfrm>
          <a:prstGeom prst="roundRect">
            <a:avLst/>
          </a:prstGeom>
          <a:solidFill>
            <a:srgbClr val="1D6A4A"/>
          </a:solidFill>
          <a:ln>
            <a:solidFill>
              <a:srgbClr val="1D6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Класс модели важнее выбора волатильности</a:t>
            </a:r>
          </a:p>
        </p:txBody>
      </p:sp>
      <p:pic>
        <p:nvPicPr>
          <p:cNvPr id="8" name="Picture 7" descr="fig_pres_05_early_exercise_premium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4050791"/>
            <a:ext cx="6473952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Ошибки по рыночным режимам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Режим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CRR + GARCH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CRR + HV_63d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CRR + HV_21d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Low vol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77.5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82.1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104.1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Mid vol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118.2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128.3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141.8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High vol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141.0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122.8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117.8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788920"/>
            <a:ext cx="11430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  <a:r>
              <a:t>→ Режим влияет на ошибку описательно, но часть эффекта объясняется DTE и moneyness</a:t>
            </a:r>
          </a:p>
        </p:txBody>
      </p:sp>
      <p:pic>
        <p:nvPicPr>
          <p:cNvPr id="6" name="Picture 5" descr="fig_04_rolling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3520440"/>
            <a:ext cx="7772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Ошибки по сроку до экспирации и денежности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DTE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CRR + GARCH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CRR + HV_63d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CRR + HV_21d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0–7 дней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1.88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3.53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2.78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8–30 дней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4.87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9.60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8.79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31–90 дней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24.6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35.4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35.94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91+ дней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135.3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990088"/>
            <a:ext cx="114300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600" b="0">
                <a:solidFill>
                  <a:srgbClr val="1A1A2E"/>
                </a:solidFill>
                <a:latin typeface="Calibri Light"/>
              </a:defRPr>
            </a:pPr>
          </a:p>
        </p:txBody>
      </p:sp>
      <p:pic>
        <p:nvPicPr>
          <p:cNvPr id="6" name="Picture 5" descr="fig_01_0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03320"/>
            <a:ext cx="11430000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Формальные проверки и устойчивость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5577840" cy="38404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Тест средней ошибки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Все три модели: t-stat от −20 до −25, p &lt; 0.001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→ Систематическое занижение статистически значимо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40280"/>
            <a:ext cx="5577840" cy="38404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Diebold–Mariano (попарно, HAC 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GARCH и HV_63d статистически неразличимы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HV_21d значимо хуже HV_63d (p = 0.0003)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794760"/>
            <a:ext cx="5577840" cy="38404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OLS на абсолютных ошибках  (R² = 0.27)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5196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DTE (+0.16, p&lt;0.001) и |log-moneyness| (−178, p&lt;0.001)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объясняют бо́льшую часть вариации ошибок —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больше, чем режим волатильности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960120"/>
            <a:ext cx="5760720" cy="384048"/>
          </a:xfrm>
          <a:prstGeom prst="roundRect">
            <a:avLst/>
          </a:prstGeom>
          <a:solidFill>
            <a:srgbClr val="459ACC"/>
          </a:solidFill>
          <a:ln>
            <a:solidFill>
              <a:srgbClr val="45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Robustness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417320"/>
          <a:ext cx="57607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37882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Подвыборка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 Light"/>
                        </a:defRPr>
                      </a:pPr>
                      <a:r>
                        <a:t>Лучшая</a:t>
                      </a:r>
                    </a:p>
                  </a:txBody>
                  <a:tcPr>
                    <a:solidFill>
                      <a:srgbClr val="1E77B4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Полная выборка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GARCH ≈ HV_63d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Без deep OTM / ITM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GARCH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DTE ≤ 91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GARCH (22.27 vs 29.92)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DTE &gt; 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HV_63d ≈ GARCH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Без high_vol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GARCH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r = 12% / 16% / 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 Light"/>
                        </a:defRPr>
                      </a:pPr>
                      <a:r>
                        <a:t>MAE меняется на ±5 пт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4251960"/>
            <a:ext cx="5760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→ Результаты устойчивы во всех подвыборках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Итоговые 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475488" cy="65836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00584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Гипотеза подтверждается в уточнённой форме:</a:t>
            </a:r>
            <a:br/>
            <a:r>
              <a:t>режим влияет на ошибку, но DTE и moneyness объясняют значительную часть эффекта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38528"/>
            <a:ext cx="475488" cy="65836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Для этих контрактов нужна американская модель:</a:t>
            </a:r>
            <a:br/>
            <a:r>
              <a:t>Black-76 даёт MAE на 46% хуже и 24.5% наблюдений ниже внутренней стоимости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871216"/>
            <a:ext cx="475488" cy="65836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71216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HV_63d — устойчивый и простой baseline:</a:t>
            </a:r>
            <a:br/>
            <a:r>
              <a:t>статистически неотличим от GARCH на полной выборке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03904"/>
            <a:ext cx="475488" cy="65836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803904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По TVNAE GARCH лучше на коротких DTE:</a:t>
            </a:r>
            <a:br/>
            <a:r>
              <a:t>TVNAE 0.66 vs 0.70; на DTE 0–7 ошибка в 3 раза меньше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736592"/>
            <a:ext cx="475488" cy="65836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 Light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736592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Все модели систематически недооценивают рынок:</a:t>
            </a:r>
            <a:br/>
            <a:r>
              <a:t>необходимы IV surface, liquidity adjustment, stochastic volatility, jumps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4F7B"/>
                </a:solidFill>
                <a:latin typeface="Calibri Light"/>
              </a:defRPr>
            </a:pPr>
            <a:r>
              <a:t>Ограничения и направления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57432" cy="36576"/>
          </a:xfrm>
          <a:prstGeom prst="rect">
            <a:avLst/>
          </a:prstGeom>
          <a:solidFill>
            <a:srgbClr val="459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5394960" cy="384048"/>
          </a:xfrm>
          <a:prstGeom prst="roundRect">
            <a:avLst/>
          </a:prstGeom>
          <a:solidFill>
            <a:srgbClr val="1E77B4"/>
          </a:solidFill>
          <a:ln>
            <a:solidFill>
              <a:srgbClr val="1E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Ограничения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инструментах эти значения могут расходиться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ограничивает перенос выводов на другие рынки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  <a:r>
              <a:t>неустранимо в данной постановке</a:t>
            </a: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400800" y="960120"/>
            <a:ext cx="5486400" cy="384048"/>
          </a:xfrm>
          <a:prstGeom prst="roundRect">
            <a:avLst/>
          </a:prstGeom>
          <a:solidFill>
            <a:srgbClr val="459ACC"/>
          </a:solidFill>
          <a:ln>
            <a:solidFill>
              <a:srgbClr val="45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Направления развития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</a:p>
          <a:p>
            <a:pPr>
              <a:defRPr sz="1500" b="0">
                <a:solidFill>
                  <a:srgbClr val="1A1A2E"/>
                </a:solidFill>
                <a:latin typeface="Calibri Light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4F7B"/>
                </a:solidFill>
                <a:latin typeface="Calibri Light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555555"/>
                </a:solidFill>
                <a:latin typeface="Calibri Light"/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